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7" r:id="rId12"/>
    <p:sldId id="2146847059" r:id="rId13"/>
    <p:sldId id="2146847058" r:id="rId14"/>
    <p:sldId id="268" r:id="rId15"/>
    <p:sldId id="2146847055" r:id="rId16"/>
    <p:sldId id="269" r:id="rId17"/>
    <p:sldId id="2146847056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C2134-FE55-D600-31C0-C82AB450B7AA}" v="39" dt="2026-08-09T17:41:19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yashhcoder/CareerLens.git" TargetMode="External"/><Relationship Id="rId3" Type="http://schemas.openxmlformats.org/officeDocument/2006/relationships/hyperlink" Target="https://jmlr.org/papers/v12/pedregosa11a.html" TargetMode="External"/><Relationship Id="rId7" Type="http://schemas.openxmlformats.org/officeDocument/2006/relationships/hyperlink" Target="https://careerlenai.streamlit.app/" TargetMode="External"/><Relationship Id="rId2" Type="http://schemas.openxmlformats.org/officeDocument/2006/relationships/hyperlink" Target="https://www.onetcenter.org/databas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docs/" TargetMode="External"/><Relationship Id="rId5" Type="http://schemas.openxmlformats.org/officeDocument/2006/relationships/hyperlink" Target="https://docs.python.org/3/" TargetMode="External"/><Relationship Id="rId4" Type="http://schemas.openxmlformats.org/officeDocument/2006/relationships/hyperlink" Target="https://doi.org/10.1023/A:1010933404324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areerlenai.streamlit.app/" TargetMode="External"/><Relationship Id="rId2" Type="http://schemas.openxmlformats.org/officeDocument/2006/relationships/hyperlink" Target="https://github.com/yashhcoder/CareerLens.gi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CareerLens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Yash Padhiyar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GLS University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- FCAIT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 - STU6a435bc54ebd01782799301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80217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720716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Choosing the right career can be difficult because students may not know which career best matches their skills, interests, and abilities.</a:t>
            </a:r>
          </a:p>
          <a:p>
            <a:r>
              <a:rPr lang="en-IN" sz="2400" dirty="0"/>
              <a:t>Most career guidance gives general suggestions, but it does not clearly show </a:t>
            </a:r>
            <a:r>
              <a:rPr lang="en-IN" sz="2400" b="1" dirty="0"/>
              <a:t>which skills a person is missing or what they should learn next</a:t>
            </a:r>
            <a:r>
              <a:rPr lang="en-IN" sz="2400" dirty="0"/>
              <a:t>.</a:t>
            </a:r>
          </a:p>
          <a:p>
            <a:r>
              <a:rPr lang="en-IN" sz="2400" b="1" dirty="0" err="1"/>
              <a:t>CareerLens</a:t>
            </a:r>
            <a:r>
              <a:rPr lang="en-IN" sz="2400" dirty="0"/>
              <a:t> aims to solve this problem by using Machine Learning and O*NET data to recommend suitable careers, identify skill gaps, and suggest skills to improve.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US" sz="1200" b="1" dirty="0">
                <a:latin typeface="Calibri"/>
                <a:ea typeface="+mn-lt"/>
                <a:cs typeface="+mn-lt"/>
              </a:rPr>
              <a:t>The proposed system aims to help users find suitable career options based on their skills, abilities, interests, and work preferences. The system uses Machine Learning and O*NET occupational data to provide career recommendations and identify areas for improvement.</a:t>
            </a:r>
          </a:p>
          <a:p>
            <a:pPr marL="305435" indent="-305435"/>
            <a:r>
              <a:rPr lang="en-IN" sz="1200" b="1" dirty="0">
                <a:latin typeface="Calibri"/>
                <a:ea typeface="+mn-lt"/>
                <a:cs typeface="+mn-lt"/>
              </a:rPr>
              <a:t>Data Collection: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US" sz="1200" b="1" dirty="0">
                <a:latin typeface="Calibri"/>
                <a:ea typeface="+mn-lt"/>
                <a:cs typeface="+mn-lt"/>
              </a:rPr>
              <a:t>Use O*NET 29.1 occupational data. Collect information about skills, abilities, knowledge, work styles, and career interests.</a:t>
            </a:r>
            <a:endParaRPr lang="en-IN" sz="1200" b="1" dirty="0">
              <a:latin typeface="Calibri"/>
              <a:ea typeface="+mn-lt"/>
              <a:cs typeface="+mn-lt"/>
            </a:endParaRPr>
          </a:p>
          <a:p>
            <a:pPr marL="629920" lvl="1" indent="-305435"/>
            <a:r>
              <a:rPr lang="en-US" sz="1200" b="1" dirty="0">
                <a:latin typeface="Calibri"/>
                <a:ea typeface="+mn-lt"/>
                <a:cs typeface="+mn-lt"/>
              </a:rPr>
              <a:t>I have used data for 878 occupations.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>
                <a:latin typeface="Calibri"/>
                <a:ea typeface="+mn-lt"/>
                <a:cs typeface="+mn-lt"/>
              </a:rPr>
              <a:t>Data Preprocessing: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US" sz="1200" b="1" dirty="0">
                <a:latin typeface="Calibri"/>
                <a:ea typeface="+mn-lt"/>
                <a:cs typeface="+mn-lt"/>
              </a:rPr>
              <a:t>Combine data from different O*NET files. Handle missing and inconsistent values.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US" sz="1200" b="1" dirty="0">
                <a:latin typeface="Calibri"/>
                <a:ea typeface="+mn-lt"/>
                <a:cs typeface="+mn-lt"/>
              </a:rPr>
              <a:t>Select relevant features and create a 147-feature profile for each occupation. Apply feature scaling before using the ML models.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>
                <a:latin typeface="Calibri"/>
                <a:ea typeface="+mn-lt"/>
                <a:cs typeface="+mn-lt"/>
              </a:rPr>
              <a:t>Machine Learning Algorithm: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>
                <a:latin typeface="Calibri"/>
                <a:ea typeface="+mn-lt"/>
                <a:cs typeface="+mn-lt"/>
              </a:rPr>
              <a:t>I </a:t>
            </a:r>
            <a:r>
              <a:rPr lang="en-US" sz="1200" b="1" dirty="0">
                <a:latin typeface="Calibri"/>
                <a:ea typeface="+mn-lt"/>
                <a:cs typeface="+mn-lt"/>
              </a:rPr>
              <a:t>Use KNN with cosine similarity to find the top 5 occupations that best match the user's </a:t>
            </a:r>
            <a:r>
              <a:rPr lang="en-US" sz="1200" b="1" dirty="0" err="1">
                <a:latin typeface="Calibri"/>
                <a:ea typeface="+mn-lt"/>
                <a:cs typeface="+mn-lt"/>
              </a:rPr>
              <a:t>profile.Use</a:t>
            </a:r>
            <a:r>
              <a:rPr lang="en-US" sz="1200" b="1" dirty="0">
                <a:latin typeface="Calibri"/>
                <a:ea typeface="+mn-lt"/>
                <a:cs typeface="+mn-lt"/>
              </a:rPr>
              <a:t> Random Forest to predict the broader career field.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US" sz="1200" b="1" dirty="0">
                <a:latin typeface="Calibri"/>
                <a:ea typeface="+mn-lt"/>
                <a:cs typeface="+mn-lt"/>
              </a:rPr>
              <a:t>Compare different ML models to select the better-performing approach.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>
                <a:latin typeface="Calibri"/>
                <a:ea typeface="+mn-lt"/>
                <a:cs typeface="+mn-lt"/>
              </a:rPr>
              <a:t>Deployment: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>
                <a:latin typeface="Calibri"/>
                <a:ea typeface="+mn-lt"/>
                <a:cs typeface="+mn-lt"/>
              </a:rPr>
              <a:t>A</a:t>
            </a:r>
            <a:r>
              <a:rPr lang="en-US" sz="1200" b="1" dirty="0">
                <a:latin typeface="Calibri"/>
                <a:ea typeface="+mn-lt"/>
                <a:cs typeface="+mn-lt"/>
              </a:rPr>
              <a:t> user-friendly web application using </a:t>
            </a:r>
            <a:r>
              <a:rPr lang="en-US" sz="1200" b="1" dirty="0" err="1">
                <a:latin typeface="Calibri"/>
                <a:ea typeface="+mn-lt"/>
                <a:cs typeface="+mn-lt"/>
              </a:rPr>
              <a:t>Streamlit</a:t>
            </a:r>
            <a:r>
              <a:rPr lang="en-US" sz="1200" b="1" dirty="0">
                <a:latin typeface="Calibri"/>
                <a:ea typeface="+mn-lt"/>
                <a:cs typeface="+mn-lt"/>
              </a:rPr>
              <a:t> that allows users to enter their skills, abilities, interests, and work preferences and receive career recommendations.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>
                <a:latin typeface="Calibri"/>
                <a:ea typeface="+mn-lt"/>
                <a:cs typeface="+mn-lt"/>
              </a:rPr>
              <a:t>Evaluation: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US" sz="1200" b="1" dirty="0">
                <a:latin typeface="Calibri"/>
                <a:ea typeface="+mn-lt"/>
                <a:cs typeface="+mn-lt"/>
              </a:rPr>
              <a:t>Evaluate the models using Test Accuracy and Cross-Validation Accuracy to measure their classification performance. Different models are compared to identify the best-performing model for career-field prediction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US" sz="1200" b="1" dirty="0">
                <a:latin typeface="Calibri"/>
                <a:ea typeface="+mn-lt"/>
                <a:cs typeface="+mn-lt"/>
              </a:rPr>
              <a:t>For occupation recommendation, the KNN model is evaluated based on the relevance of the top matching occupations.</a:t>
            </a:r>
            <a:endParaRPr lang="en-IN" sz="1200" b="1" dirty="0">
              <a:latin typeface="Calibri"/>
            </a:endParaRPr>
          </a:p>
          <a:p>
            <a:pPr marL="629920" lvl="1" indent="-305435"/>
            <a:r>
              <a:rPr lang="en-IN" sz="1200" dirty="0">
                <a:ea typeface="+mn-lt"/>
                <a:cs typeface="+mn-lt"/>
              </a:rPr>
              <a:t>Result: </a:t>
            </a:r>
            <a:r>
              <a:rPr lang="en-US" sz="1200" b="1" dirty="0" err="1">
                <a:latin typeface="Calibri"/>
                <a:ea typeface="+mn-lt"/>
                <a:cs typeface="+mn-lt"/>
              </a:rPr>
              <a:t>CareerLens</a:t>
            </a:r>
            <a:r>
              <a:rPr lang="en-US" sz="1200" b="1" dirty="0">
                <a:latin typeface="Calibri"/>
                <a:ea typeface="+mn-lt"/>
                <a:cs typeface="+mn-lt"/>
              </a:rPr>
              <a:t> successfully recommends the Top 5 occupations based on the user's profile and identifies the most suitable career field. It also provides skill-match analysis, skill gaps, and a personalized learning roadmap to help users understand and improve their career readiness.</a:t>
            </a:r>
            <a:endParaRPr lang="en-IN" sz="12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>
                <a:solidFill>
                  <a:srgbClr val="0F0F0F"/>
                </a:solidFill>
                <a:ea typeface="+mn-lt"/>
                <a:cs typeface="+mn-lt"/>
              </a:rPr>
              <a:t>System Approach </a:t>
            </a:r>
          </a:p>
          <a:p>
            <a:pPr lvl="1"/>
            <a:r>
              <a:rPr lang="en-US" sz="1500" dirty="0">
                <a:solidFill>
                  <a:srgbClr val="0F0F0F"/>
                </a:solidFill>
                <a:ea typeface="+mn-lt"/>
                <a:cs typeface="+mn-lt"/>
              </a:rPr>
              <a:t>The </a:t>
            </a:r>
            <a:r>
              <a:rPr lang="en-US" sz="1500" dirty="0" err="1">
                <a:solidFill>
                  <a:srgbClr val="0F0F0F"/>
                </a:solidFill>
                <a:ea typeface="+mn-lt"/>
                <a:cs typeface="+mn-lt"/>
              </a:rPr>
              <a:t>CareerLens</a:t>
            </a:r>
            <a:r>
              <a:rPr lang="en-US" sz="1500" dirty="0">
                <a:solidFill>
                  <a:srgbClr val="0F0F0F"/>
                </a:solidFill>
                <a:ea typeface="+mn-lt"/>
                <a:cs typeface="+mn-lt"/>
              </a:rPr>
              <a:t> system is developed to analyze a user's profile and recommend suitable career options. The system combines O*NET occupational data with machine learning techniques to compare the user's profile with existing occupation profiles.</a:t>
            </a:r>
            <a:endParaRPr lang="en-US" dirty="0"/>
          </a:p>
          <a:p>
            <a:pPr marL="305435" indent="-305435"/>
            <a:r>
              <a:rPr lang="en-IN" sz="1800" b="1" dirty="0">
                <a:solidFill>
                  <a:srgbClr val="0F0F0F"/>
                </a:solidFill>
              </a:rPr>
              <a:t>System requirements</a:t>
            </a:r>
          </a:p>
          <a:p>
            <a:pPr marL="629435" lvl="1" indent="-305435"/>
            <a:r>
              <a:rPr lang="en-US" sz="1500" dirty="0">
                <a:solidFill>
                  <a:srgbClr val="0F0F0F"/>
                </a:solidFill>
                <a:ea typeface="+mn-lt"/>
                <a:cs typeface="+mn-lt"/>
              </a:rPr>
              <a:t>Hardware Requirements: </a:t>
            </a:r>
          </a:p>
          <a:p>
            <a:pPr marL="899435" lvl="2" indent="-305435"/>
            <a:r>
              <a:rPr lang="en-US" sz="1100" dirty="0">
                <a:solidFill>
                  <a:srgbClr val="0F0F0F"/>
                </a:solidFill>
                <a:ea typeface="+mn-lt"/>
                <a:cs typeface="+mn-lt"/>
              </a:rPr>
              <a:t>Processor: Intel Core i3 or equivalent </a:t>
            </a:r>
          </a:p>
          <a:p>
            <a:pPr marL="899435" lvl="2" indent="-305435"/>
            <a:r>
              <a:rPr lang="en-US" sz="1100" dirty="0">
                <a:solidFill>
                  <a:srgbClr val="0F0F0F"/>
                </a:solidFill>
                <a:ea typeface="+mn-lt"/>
                <a:cs typeface="+mn-lt"/>
              </a:rPr>
              <a:t>RAM: 4 GB or above </a:t>
            </a:r>
          </a:p>
          <a:p>
            <a:pPr marL="899435" lvl="2" indent="-305435"/>
            <a:r>
              <a:rPr lang="en-US" sz="1100" dirty="0">
                <a:solidFill>
                  <a:srgbClr val="0F0F0F"/>
                </a:solidFill>
                <a:ea typeface="+mn-lt"/>
                <a:cs typeface="+mn-lt"/>
              </a:rPr>
              <a:t>Storage: At least 2 GB free space </a:t>
            </a:r>
          </a:p>
          <a:p>
            <a:pPr marL="629435" lvl="1" indent="-305435"/>
            <a:r>
              <a:rPr lang="en-US" sz="1500" b="1" dirty="0">
                <a:solidFill>
                  <a:srgbClr val="0F0F0F"/>
                </a:solidFill>
                <a:ea typeface="+mn-lt"/>
                <a:cs typeface="+mn-lt"/>
              </a:rPr>
              <a:t>Software Requirements:</a:t>
            </a:r>
          </a:p>
          <a:p>
            <a:pPr marL="899435" lvl="2" indent="-305435"/>
            <a:r>
              <a:rPr lang="en-US" dirty="0">
                <a:solidFill>
                  <a:srgbClr val="0F0F0F"/>
                </a:solidFill>
                <a:ea typeface="+mn-lt"/>
                <a:cs typeface="+mn-lt"/>
              </a:rPr>
              <a:t>Operating System: Windows / Linux / macOS </a:t>
            </a:r>
          </a:p>
          <a:p>
            <a:pPr marL="899435" lvl="2" indent="-305435"/>
            <a:r>
              <a:rPr lang="en-US" dirty="0">
                <a:solidFill>
                  <a:srgbClr val="0F0F0F"/>
                </a:solidFill>
                <a:ea typeface="+mn-lt"/>
                <a:cs typeface="+mn-lt"/>
              </a:rPr>
              <a:t>Python 3.9 or above </a:t>
            </a:r>
          </a:p>
          <a:p>
            <a:pPr marL="899435" lvl="2" indent="-305435"/>
            <a:r>
              <a:rPr lang="en-US" dirty="0" err="1">
                <a:solidFill>
                  <a:srgbClr val="0F0F0F"/>
                </a:solidFill>
                <a:ea typeface="+mn-lt"/>
                <a:cs typeface="+mn-lt"/>
              </a:rPr>
              <a:t>Streamlit</a:t>
            </a:r>
            <a:r>
              <a:rPr lang="en-US" dirty="0">
                <a:solidFill>
                  <a:srgbClr val="0F0F0F"/>
                </a:solidFill>
                <a:ea typeface="+mn-lt"/>
                <a:cs typeface="+mn-lt"/>
              </a:rPr>
              <a:t> for the web application Jupyter Notebook or VS Code for development</a:t>
            </a:r>
            <a:endParaRPr lang="en-IN" dirty="0">
              <a:solidFill>
                <a:srgbClr val="0F0F0F"/>
              </a:solidFill>
            </a:endParaRPr>
          </a:p>
          <a:p>
            <a:pPr marL="305435" indent="-305435"/>
            <a:r>
              <a:rPr lang="en-IN" sz="1800" b="1" dirty="0">
                <a:solidFill>
                  <a:srgbClr val="0F0F0F"/>
                </a:solidFill>
              </a:rPr>
              <a:t>Library required to build the model</a:t>
            </a:r>
          </a:p>
          <a:p>
            <a:pPr marL="899435" lvl="2" indent="-305435"/>
            <a:r>
              <a:rPr lang="en-IN" sz="1400" b="1" dirty="0">
                <a:solidFill>
                  <a:srgbClr val="0F0F0F"/>
                </a:solidFill>
              </a:rPr>
              <a:t>Pandas</a:t>
            </a:r>
            <a:r>
              <a:rPr lang="en-IN" sz="1400" dirty="0">
                <a:solidFill>
                  <a:srgbClr val="0F0F0F"/>
                </a:solidFill>
              </a:rPr>
              <a:t> – for loading, cleaning, and handling the O*NET datasets </a:t>
            </a:r>
          </a:p>
          <a:p>
            <a:pPr marL="899435" lvl="2" indent="-305435"/>
            <a:r>
              <a:rPr lang="en-IN" sz="1400" b="1" dirty="0">
                <a:solidFill>
                  <a:srgbClr val="0F0F0F"/>
                </a:solidFill>
              </a:rPr>
              <a:t>NumPy</a:t>
            </a:r>
            <a:r>
              <a:rPr lang="en-IN" sz="1400" dirty="0">
                <a:solidFill>
                  <a:srgbClr val="0F0F0F"/>
                </a:solidFill>
              </a:rPr>
              <a:t> – for numerical operations and feature processing  </a:t>
            </a:r>
            <a:r>
              <a:rPr lang="en-IN" sz="1400" b="1" dirty="0">
                <a:solidFill>
                  <a:srgbClr val="0F0F0F"/>
                </a:solidFill>
              </a:rPr>
              <a:t>Scikit-learn</a:t>
            </a:r>
            <a:r>
              <a:rPr lang="en-IN" sz="1400" dirty="0">
                <a:solidFill>
                  <a:srgbClr val="0F0F0F"/>
                </a:solidFill>
              </a:rPr>
              <a:t> – for KNN, Random Forest, Gradient Boosting, </a:t>
            </a:r>
            <a:r>
              <a:rPr lang="en-IN" sz="1400" dirty="0" err="1">
                <a:solidFill>
                  <a:srgbClr val="0F0F0F"/>
                </a:solidFill>
              </a:rPr>
              <a:t>StandardScaler</a:t>
            </a:r>
            <a:r>
              <a:rPr lang="en-IN" sz="1400" dirty="0">
                <a:solidFill>
                  <a:srgbClr val="0F0F0F"/>
                </a:solidFill>
              </a:rPr>
              <a:t>, and model evaluation </a:t>
            </a:r>
            <a:r>
              <a:rPr lang="en-IN" sz="1400" dirty="0" err="1">
                <a:solidFill>
                  <a:srgbClr val="0F0F0F"/>
                </a:solidFill>
              </a:rPr>
              <a:t>Joblib</a:t>
            </a:r>
            <a:r>
              <a:rPr lang="en-IN" sz="1400" dirty="0">
                <a:solidFill>
                  <a:srgbClr val="0F0F0F"/>
                </a:solidFill>
              </a:rPr>
              <a:t> / Pickle – for saving and loading the trained model </a:t>
            </a:r>
            <a:r>
              <a:rPr lang="en-IN" sz="1400" dirty="0" err="1">
                <a:solidFill>
                  <a:srgbClr val="0F0F0F"/>
                </a:solidFill>
              </a:rPr>
              <a:t>Streamlit</a:t>
            </a:r>
            <a:r>
              <a:rPr lang="en-IN" sz="1400" dirty="0">
                <a:solidFill>
                  <a:srgbClr val="0F0F0F"/>
                </a:solidFill>
              </a:rPr>
              <a:t> – for developing the interactive web application </a:t>
            </a:r>
            <a:r>
              <a:rPr lang="en-IN" sz="1400" dirty="0" err="1">
                <a:solidFill>
                  <a:srgbClr val="0F0F0F"/>
                </a:solidFill>
              </a:rPr>
              <a:t>OpenPyXL</a:t>
            </a:r>
            <a:r>
              <a:rPr lang="en-IN" sz="1400" dirty="0">
                <a:solidFill>
                  <a:srgbClr val="0F0F0F"/>
                </a:solidFill>
              </a:rPr>
              <a:t> – for handling Excel files when required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05435" indent="-305435"/>
            <a:r>
              <a:rPr lang="en-IN" sz="1400" dirty="0">
                <a:ea typeface="+mn-lt"/>
                <a:cs typeface="+mn-lt"/>
              </a:rPr>
              <a:t>In the Algorithm section, describe the machine learning algorithm chosen for predicting bike counts. Here's an example structure for this section:</a:t>
            </a:r>
            <a:endParaRPr lang="en-IN" sz="1400" dirty="0"/>
          </a:p>
          <a:p>
            <a:pPr marL="305435" indent="-305435"/>
            <a:r>
              <a:rPr lang="en-IN" sz="1400" b="1" dirty="0">
                <a:ea typeface="+mn-lt"/>
                <a:cs typeface="+mn-lt"/>
              </a:rPr>
              <a:t>Algorithm Selection:</a:t>
            </a:r>
            <a:endParaRPr lang="en-IN" sz="1400" dirty="0"/>
          </a:p>
          <a:p>
            <a:pPr marL="629920" lvl="1" indent="-305435"/>
            <a:r>
              <a:rPr lang="en-US" dirty="0">
                <a:ea typeface="+mn-lt"/>
                <a:cs typeface="+mn-lt"/>
              </a:rPr>
              <a:t>K-Nearest Neighbors (KNN) is used as the primary algorithm for career recommendation. It compares the user's profile with occupation profiles using cosine similarity and returns the Top 5 closest occupations.</a:t>
            </a:r>
          </a:p>
          <a:p>
            <a:pPr marL="629920" lvl="1" indent="-305435"/>
            <a:r>
              <a:rPr lang="en-IN" b="1" dirty="0"/>
              <a:t>Random Forest</a:t>
            </a:r>
            <a:r>
              <a:rPr lang="en-IN" dirty="0"/>
              <a:t> is used as a secondary model to classify the user into one of the broader career fields.</a:t>
            </a:r>
          </a:p>
          <a:p>
            <a:pPr marL="305435" indent="-305435"/>
            <a:r>
              <a:rPr lang="en-IN" sz="1400" b="1" dirty="0">
                <a:ea typeface="+mn-lt"/>
                <a:cs typeface="+mn-lt"/>
              </a:rPr>
              <a:t>Data Input:</a:t>
            </a:r>
            <a:endParaRPr lang="en-IN" sz="1400" dirty="0"/>
          </a:p>
          <a:p>
            <a:pPr marL="629920" lvl="1" indent="-305435"/>
            <a:r>
              <a:rPr lang="en-US" dirty="0">
                <a:ea typeface="+mn-lt"/>
                <a:cs typeface="+mn-lt"/>
              </a:rPr>
              <a:t>The system uses 147 features from the O*NET 29.1 database, including: Essential skills Abilities Knowledge Transferable skills Work styles Career interests (RIASEC) The user's inputs are converted into the same feature format before making recommendations.</a:t>
            </a:r>
            <a:endParaRPr lang="en-IN" dirty="0"/>
          </a:p>
          <a:p>
            <a:pPr marL="305435" indent="-305435"/>
            <a:r>
              <a:rPr lang="en-IN" sz="1400" b="1" dirty="0">
                <a:ea typeface="+mn-lt"/>
                <a:cs typeface="+mn-lt"/>
              </a:rPr>
              <a:t>Training Process:</a:t>
            </a:r>
            <a:endParaRPr lang="en-IN" sz="1400" dirty="0"/>
          </a:p>
          <a:p>
            <a:pPr marL="629920" lvl="1" indent="-305435"/>
            <a:r>
              <a:rPr lang="en-US" dirty="0">
                <a:ea typeface="+mn-lt"/>
                <a:cs typeface="+mn-lt"/>
              </a:rPr>
              <a:t>The O*NET occupation data is cleaned and combined to create a profile for each occupation. The features are scaled using </a:t>
            </a:r>
            <a:r>
              <a:rPr lang="en-US" dirty="0" err="1">
                <a:ea typeface="+mn-lt"/>
                <a:cs typeface="+mn-lt"/>
              </a:rPr>
              <a:t>StandardScaler</a:t>
            </a:r>
            <a:r>
              <a:rPr lang="en-US" dirty="0">
                <a:ea typeface="+mn-lt"/>
                <a:cs typeface="+mn-lt"/>
              </a:rPr>
              <a:t> before applying the machine learning models. </a:t>
            </a:r>
          </a:p>
          <a:p>
            <a:pPr marL="629920" lvl="1" indent="-305435"/>
            <a:r>
              <a:rPr lang="en-US" dirty="0">
                <a:ea typeface="+mn-lt"/>
                <a:cs typeface="+mn-lt"/>
              </a:rPr>
              <a:t>Different models, including Random Forest, Gradient Boosting, and KNN, are compared using test accuracy and cross-validation to evaluate their performance.</a:t>
            </a:r>
            <a:endParaRPr lang="en-IN" dirty="0"/>
          </a:p>
          <a:p>
            <a:pPr marL="305435" indent="-305435"/>
            <a:r>
              <a:rPr lang="en-IN" sz="1400" b="1" dirty="0">
                <a:ea typeface="+mn-lt"/>
                <a:cs typeface="+mn-lt"/>
              </a:rPr>
              <a:t>Prediction Process:</a:t>
            </a:r>
            <a:endParaRPr lang="en-IN" sz="1400" dirty="0"/>
          </a:p>
          <a:p>
            <a:pPr marL="629920" lvl="1" indent="-305435"/>
            <a:r>
              <a:rPr lang="en-US" dirty="0">
                <a:ea typeface="+mn-lt"/>
                <a:cs typeface="+mn-lt"/>
              </a:rPr>
              <a:t>When a user enters their profile, </a:t>
            </a:r>
            <a:r>
              <a:rPr lang="en-US" dirty="0" err="1">
                <a:ea typeface="+mn-lt"/>
                <a:cs typeface="+mn-lt"/>
              </a:rPr>
              <a:t>CareerLens</a:t>
            </a:r>
            <a:r>
              <a:rPr lang="en-US" dirty="0">
                <a:ea typeface="+mn-lt"/>
                <a:cs typeface="+mn-lt"/>
              </a:rPr>
              <a:t> compares it with the 878 occupation profiles using KNN and cosine similarity. The system ranks the occupations based on similarity and displays the Top 5 matches. The Random Forest model also predicts the user's broader career field.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4A1553-AC53-B3A8-F3F1-0469E91C7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291" y="1063964"/>
            <a:ext cx="11357838" cy="532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71AB-496C-53A5-2EF7-66A4FD27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1DE857-F321-2548-82F5-0F607945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FFA7C8-C87B-DEA8-662D-7EBCDE8A0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948" y="1101213"/>
            <a:ext cx="11287433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2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A1ED-8019-C7D5-D104-5A5911B5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FC8A65-7F89-8C16-6155-91C5F60A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FE3282-82E3-C03B-E148-4737103DD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3" y="1111045"/>
            <a:ext cx="11109362" cy="53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E368-E82A-3A5B-58D9-4C44CAD9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0916AD-2206-F4A1-DF18-525ED3FB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1B3948-3B1C-9EC9-C862-69F9D1400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12" y="1101213"/>
            <a:ext cx="11119195" cy="527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3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1033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213871"/>
          </a:xfrm>
        </p:spPr>
        <p:txBody>
          <a:bodyPr>
            <a:normAutofit/>
          </a:bodyPr>
          <a:lstStyle/>
          <a:p>
            <a:pPr lvl="0"/>
            <a:r>
              <a:rPr lang="en-IN" sz="2000" dirty="0" err="1"/>
              <a:t>CareerLens</a:t>
            </a:r>
            <a:r>
              <a:rPr lang="en-IN" sz="2000" dirty="0"/>
              <a:t> provides personalized career recommendations using real O*NET 29.1 data.</a:t>
            </a:r>
          </a:p>
          <a:p>
            <a:pPr lvl="0"/>
            <a:r>
              <a:rPr lang="en-IN" sz="2000" dirty="0"/>
              <a:t>It uses Machine Learning to match a user’s skills, abilities, interests, and work preferences with suitable occupations.</a:t>
            </a:r>
          </a:p>
          <a:p>
            <a:pPr lvl="0"/>
            <a:r>
              <a:rPr lang="en-IN" sz="2000" dirty="0"/>
              <a:t>Skill-match and skill-gap analysis help users understand their strengths and areas they need to improve.</a:t>
            </a:r>
          </a:p>
          <a:p>
            <a:pPr lvl="0"/>
            <a:r>
              <a:rPr lang="en-IN" sz="2000" dirty="0"/>
              <a:t>One of the main challenges was combining and preprocessing data from multiple O*NET datasets.</a:t>
            </a:r>
          </a:p>
          <a:p>
            <a:pPr lvl="0"/>
            <a:r>
              <a:rPr lang="en-IN" sz="2000" dirty="0"/>
              <a:t>The system can be improved in the future by adding resume analysis, live job-market data, course recommendations, and salary/location-based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60" y="1302026"/>
            <a:ext cx="11029615" cy="4673324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Add more information such as </a:t>
            </a:r>
            <a:r>
              <a:rPr lang="en-IN" sz="1800" b="1" dirty="0"/>
              <a:t>salary, job demand, and current industry trends</a:t>
            </a:r>
            <a:r>
              <a:rPr lang="en-IN" sz="1800" dirty="0"/>
              <a:t> to make the recommendations more useful.</a:t>
            </a:r>
          </a:p>
          <a:p>
            <a:pPr lvl="0"/>
            <a:r>
              <a:rPr lang="en-IN" sz="1800" dirty="0"/>
              <a:t>Improve the recommendation model by trying </a:t>
            </a:r>
            <a:r>
              <a:rPr lang="en-IN" sz="1800" b="1" dirty="0"/>
              <a:t>better ML techniques</a:t>
            </a:r>
            <a:r>
              <a:rPr lang="en-IN" sz="1800" dirty="0"/>
              <a:t> and comparing their performance.</a:t>
            </a:r>
          </a:p>
          <a:p>
            <a:pPr lvl="0"/>
            <a:r>
              <a:rPr lang="en-IN" sz="1800" dirty="0"/>
              <a:t>Allow users to </a:t>
            </a:r>
            <a:r>
              <a:rPr lang="en-IN" sz="1800" b="1" dirty="0"/>
              <a:t>upload their resume</a:t>
            </a:r>
            <a:r>
              <a:rPr lang="en-IN" sz="1800" dirty="0"/>
              <a:t> so the system can identify their skills automatically.</a:t>
            </a:r>
          </a:p>
          <a:p>
            <a:pPr lvl="0"/>
            <a:r>
              <a:rPr lang="en-IN" sz="1800" dirty="0"/>
              <a:t>Suggest </a:t>
            </a:r>
            <a:r>
              <a:rPr lang="en-IN" sz="1800" b="1" dirty="0"/>
              <a:t>courses and certifications</a:t>
            </a:r>
            <a:r>
              <a:rPr lang="en-IN" sz="1800" dirty="0"/>
              <a:t> based on the skills the user needs to improve.</a:t>
            </a:r>
          </a:p>
          <a:p>
            <a:pPr lvl="0"/>
            <a:r>
              <a:rPr lang="en-IN" sz="1800" dirty="0"/>
              <a:t>Add </a:t>
            </a:r>
            <a:r>
              <a:rPr lang="en-IN" sz="1800" b="1" dirty="0"/>
              <a:t>location-based recommendations</a:t>
            </a:r>
            <a:r>
              <a:rPr lang="en-IN" sz="1800" dirty="0"/>
              <a:t> to help users find careers and jobs in their preferred area.</a:t>
            </a:r>
          </a:p>
          <a:p>
            <a:pPr lvl="0"/>
            <a:r>
              <a:rPr lang="en-IN" sz="1800" dirty="0"/>
              <a:t>In the future, AI can be added to give users </a:t>
            </a:r>
            <a:r>
              <a:rPr lang="en-IN" sz="1800" b="1" dirty="0"/>
              <a:t>more personalized career guidance and explanations</a:t>
            </a:r>
            <a:r>
              <a:rPr lang="en-IN" sz="1800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O*NET Resource </a:t>
            </a:r>
            <a:r>
              <a:rPr lang="en-IN" b="1" dirty="0" err="1"/>
              <a:t>Center</a:t>
            </a:r>
            <a:r>
              <a:rPr lang="en-IN" dirty="0"/>
              <a:t> — O*NET 29.1 Occupational Database</a:t>
            </a:r>
            <a:br>
              <a:rPr lang="en-IN" dirty="0"/>
            </a:br>
            <a:r>
              <a:rPr lang="en-IN" dirty="0">
                <a:hlinkClick r:id="rId2"/>
              </a:rPr>
              <a:t>https://www.onetcenter.org/database.html</a:t>
            </a:r>
            <a:endParaRPr lang="en-IN" dirty="0"/>
          </a:p>
          <a:p>
            <a:pPr lvl="0"/>
            <a:r>
              <a:rPr lang="en-IN" b="1" dirty="0"/>
              <a:t>Pedregosa et al. (2011)</a:t>
            </a:r>
            <a:r>
              <a:rPr lang="en-IN" dirty="0"/>
              <a:t> — </a:t>
            </a:r>
            <a:r>
              <a:rPr lang="en-IN" i="1" dirty="0"/>
              <a:t>Scikit-learn: Machine Learning in Python</a:t>
            </a:r>
            <a:r>
              <a:rPr lang="en-IN" dirty="0"/>
              <a:t>, JMLR</a:t>
            </a:r>
            <a:br>
              <a:rPr lang="en-IN" dirty="0"/>
            </a:br>
            <a:r>
              <a:rPr lang="en-IN" dirty="0">
                <a:hlinkClick r:id="rId3"/>
              </a:rPr>
              <a:t>https://jmlr.org/papers/v12/pedregosa11a.html</a:t>
            </a:r>
            <a:endParaRPr lang="en-IN" dirty="0"/>
          </a:p>
          <a:p>
            <a:pPr lvl="0"/>
            <a:r>
              <a:rPr lang="en-IN" b="1" dirty="0" err="1"/>
              <a:t>Breiman</a:t>
            </a:r>
            <a:r>
              <a:rPr lang="en-IN" b="1" dirty="0"/>
              <a:t>, L. (2001)</a:t>
            </a:r>
            <a:r>
              <a:rPr lang="en-IN" dirty="0"/>
              <a:t> — </a:t>
            </a:r>
            <a:r>
              <a:rPr lang="en-IN" i="1" dirty="0"/>
              <a:t>Random Forests</a:t>
            </a:r>
            <a:r>
              <a:rPr lang="en-IN" dirty="0"/>
              <a:t>, Machine Learning</a:t>
            </a:r>
            <a:br>
              <a:rPr lang="en-IN" dirty="0"/>
            </a:br>
            <a:r>
              <a:rPr lang="en-IN" dirty="0">
                <a:hlinkClick r:id="rId4"/>
              </a:rPr>
              <a:t>https://doi.org/10.1023/A:1010933404324</a:t>
            </a:r>
            <a:endParaRPr lang="en-IN" dirty="0"/>
          </a:p>
          <a:p>
            <a:pPr lvl="0"/>
            <a:r>
              <a:rPr lang="en-IN" b="1" dirty="0"/>
              <a:t>Python Documentation</a:t>
            </a:r>
            <a:r>
              <a:rPr lang="en-IN" dirty="0"/>
              <a:t> — Python 3</a:t>
            </a:r>
            <a:br>
              <a:rPr lang="en-IN" dirty="0"/>
            </a:br>
            <a:r>
              <a:rPr lang="en-IN" dirty="0">
                <a:hlinkClick r:id="rId5"/>
              </a:rPr>
              <a:t>https://docs.python.org/3/</a:t>
            </a:r>
            <a:endParaRPr lang="en-IN" dirty="0"/>
          </a:p>
          <a:p>
            <a:pPr lvl="0"/>
            <a:r>
              <a:rPr lang="en-IN" b="1" dirty="0"/>
              <a:t>Pandas Documentation</a:t>
            </a:r>
            <a:r>
              <a:rPr lang="en-IN" dirty="0"/>
              <a:t> — Data Analysis and Manipulation</a:t>
            </a:r>
            <a:br>
              <a:rPr lang="en-IN" dirty="0"/>
            </a:br>
            <a:r>
              <a:rPr lang="en-IN" dirty="0">
                <a:hlinkClick r:id="rId6"/>
              </a:rPr>
              <a:t>https://pandas.pydata.org/docs/</a:t>
            </a:r>
            <a:endParaRPr lang="en-IN" dirty="0"/>
          </a:p>
          <a:p>
            <a:pPr lvl="0"/>
            <a:r>
              <a:rPr lang="en-IN" b="1" dirty="0" err="1"/>
              <a:t>Streamlit</a:t>
            </a:r>
            <a:r>
              <a:rPr lang="en-IN" b="1" dirty="0"/>
              <a:t> Documentation</a:t>
            </a:r>
            <a:r>
              <a:rPr lang="en-IN" dirty="0"/>
              <a:t> — Web Application Development</a:t>
            </a:r>
            <a:br>
              <a:rPr lang="en-IN" dirty="0"/>
            </a:br>
            <a:r>
              <a:rPr lang="en-IN" dirty="0">
                <a:hlinkClick r:id="rId7"/>
              </a:rPr>
              <a:t>https://careerlenai.streamlit.app/</a:t>
            </a:r>
            <a:endParaRPr lang="en-IN" dirty="0"/>
          </a:p>
          <a:p>
            <a:pPr lvl="0"/>
            <a:r>
              <a:rPr lang="en-IN" b="1" dirty="0"/>
              <a:t>GitHub</a:t>
            </a:r>
            <a:r>
              <a:rPr lang="en-IN" dirty="0"/>
              <a:t> — Project source code and version control</a:t>
            </a:r>
            <a:br>
              <a:rPr lang="en-IN" dirty="0"/>
            </a:br>
            <a:r>
              <a:rPr lang="en-IN" dirty="0">
                <a:hlinkClick r:id="rId8"/>
              </a:rPr>
              <a:t>https://github.com/yashhcoder/CareerLens.git</a:t>
            </a:r>
            <a:endParaRPr lang="en-IN" dirty="0"/>
          </a:p>
          <a:p>
            <a:pPr marL="0" lv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dirty="0" err="1"/>
              <a:t>Github</a:t>
            </a:r>
            <a:r>
              <a:rPr lang="en-IN" dirty="0"/>
              <a:t> Link: </a:t>
            </a:r>
            <a:r>
              <a:rPr lang="en-IN" dirty="0">
                <a:hlinkClick r:id="rId2"/>
              </a:rPr>
              <a:t>https://github.com/yashhcoder/CareerLens.git</a:t>
            </a:r>
            <a:endParaRPr lang="en-US" dirty="0"/>
          </a:p>
          <a:p>
            <a:pPr marL="305435" indent="-305435"/>
            <a:r>
              <a:rPr lang="en-IN" dirty="0"/>
              <a:t>Deployment: HF, </a:t>
            </a:r>
            <a:r>
              <a:rPr lang="en-IN" dirty="0" err="1"/>
              <a:t>Streamlit</a:t>
            </a:r>
            <a:r>
              <a:rPr lang="en-IN" dirty="0"/>
              <a:t> Link, </a:t>
            </a:r>
            <a:r>
              <a:rPr lang="en-IN" dirty="0" err="1"/>
              <a:t>Gradio</a:t>
            </a:r>
            <a:r>
              <a:rPr lang="en-IN" dirty="0"/>
              <a:t> (OPTIONAL)</a:t>
            </a:r>
          </a:p>
          <a:p>
            <a:pPr marL="305435" indent="-305435"/>
            <a:r>
              <a:rPr lang="en-IN" dirty="0" err="1"/>
              <a:t>Streamlit</a:t>
            </a:r>
            <a:r>
              <a:rPr lang="en-IN" dirty="0"/>
              <a:t> ; </a:t>
            </a:r>
            <a:r>
              <a:rPr lang="en-IN" dirty="0">
                <a:hlinkClick r:id="rId3"/>
              </a:rPr>
              <a:t>https://careerlenai.streamlit.app/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127</TotalTime>
  <Words>1213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CareerLens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Yash Padhiyar</cp:lastModifiedBy>
  <cp:revision>7</cp:revision>
  <dcterms:created xsi:type="dcterms:W3CDTF">2021-05-26T16:50:10Z</dcterms:created>
  <dcterms:modified xsi:type="dcterms:W3CDTF">2026-09-09T12:06:02Z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